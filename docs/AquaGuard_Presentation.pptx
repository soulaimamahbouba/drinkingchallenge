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ECDC4"/>
                </a:solidFill>
                <a:latin typeface="Calibri"/>
              </a:defRPr>
            </a:pPr>
            <a:r>
              <a:t>AquaGuard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Real-Time Urban Water Quality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C5D5"/>
                </a:solidFill>
                <a:latin typeface="Calibri"/>
              </a:defRPr>
            </a:pPr>
            <a:r>
              <a:t>Degradation Prediction  |  Early Warning  |  Probable Cause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DC4"/>
                </a:solidFill>
                <a:latin typeface="Calibri"/>
              </a:defRPr>
            </a:pPr>
            <a:r>
              <a:t>AI Night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  <a:latin typeface="Calibri"/>
              </a:defRPr>
            </a:pPr>
            <a:r>
              <a:t>2B+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5D5"/>
                </a:solidFill>
                <a:latin typeface="Calibri"/>
              </a:defRPr>
            </a:pPr>
            <a:r>
              <a:t>people lack safe</a:t>
            </a:r>
            <a:br/>
            <a:r>
              <a:t>drinking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  <a:latin typeface="Calibri"/>
              </a:defRPr>
            </a:pPr>
            <a:r>
              <a:t>485K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5D5"/>
                </a:solidFill>
                <a:latin typeface="Calibri"/>
              </a:defRPr>
            </a:pPr>
            <a:r>
              <a:t>deaths/year from</a:t>
            </a:r>
            <a:br/>
            <a:r>
              <a:t>contaminated water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5D5"/>
                </a:solidFill>
                <a:latin typeface="Calibri"/>
              </a:defRPr>
            </a:pPr>
            <a:r>
              <a:t>delay in current</a:t>
            </a:r>
            <a:br/>
            <a:r>
              <a:t>lab-based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463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  <a:latin typeface="Calibri"/>
              </a:defRPr>
            </a:pPr>
            <a:r>
              <a:t>&gt;60%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5D5"/>
                </a:solidFill>
                <a:latin typeface="Calibri"/>
              </a:defRPr>
            </a:pPr>
            <a:r>
              <a:t>false alarm rate</a:t>
            </a:r>
            <a:br/>
            <a:r>
              <a:t>in threshold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C5D5"/>
                </a:solidFill>
                <a:latin typeface="Calibri"/>
              </a:defRPr>
            </a:pPr>
            <a:r>
              <a:t>Current monitoring: periodic grab samples, lab results in hours to days</a:t>
            </a:r>
          </a:p>
          <a:p>
            <a:pPr>
              <a:spcAft>
                <a:spcPts val="600"/>
              </a:spcAft>
              <a:defRPr sz="1600">
                <a:solidFill>
                  <a:srgbClr val="BBC5D5"/>
                </a:solidFill>
                <a:latin typeface="Calibri"/>
              </a:defRPr>
            </a:pPr>
            <a:r>
              <a:t>Threshold-based SCADA alarms: too many false positives, no prediction capability</a:t>
            </a:r>
          </a:p>
          <a:p>
            <a:pPr>
              <a:spcAft>
                <a:spcPts val="600"/>
              </a:spcAft>
              <a:defRPr sz="1600">
                <a:solidFill>
                  <a:srgbClr val="BBC5D5"/>
                </a:solidFill>
                <a:latin typeface="Calibri"/>
              </a:defRPr>
            </a:pPr>
            <a:r>
              <a:t>No automated root-cause identification -- operators rely on experience</a:t>
            </a:r>
          </a:p>
          <a:p>
            <a:pPr>
              <a:spcAft>
                <a:spcPts val="600"/>
              </a:spcAft>
              <a:defRPr sz="1600">
                <a:solidFill>
                  <a:srgbClr val="BBC5D5"/>
                </a:solidFill>
                <a:latin typeface="Calibri"/>
              </a:defRPr>
            </a:pPr>
            <a:r>
              <a:t>Gap: no early warning BEFORE water quality degrades to unsafe levels</a:t>
            </a:r>
          </a:p>
          <a:p>
            <a:pPr>
              <a:spcAft>
                <a:spcPts val="600"/>
              </a:spcAft>
              <a:defRPr sz="1600">
                <a:solidFill>
                  <a:srgbClr val="BBC5D5"/>
                </a:solidFill>
                <a:latin typeface="Calibri"/>
              </a:defRPr>
            </a:pPr>
            <a:r>
              <a:t>Public health at risk: contamination events detected AFTER consumption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Our Solution: End-to-End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  <a:latin typeface="Calibri"/>
              </a:defRPr>
            </a:pPr>
            <a:r>
              <a:t>Multi-Sensor</a:t>
            </a:r>
            <a:br/>
            <a: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5D5"/>
                </a:solidFill>
                <a:latin typeface="Calibri"/>
              </a:defRPr>
            </a:pPr>
            <a:r>
              <a:t>pH, Turbidity, Chloramine</a:t>
            </a:r>
            <a:br/>
            <a:r>
              <a:t>Conductivity, THM, TDS</a:t>
            </a:r>
            <a:br/>
            <a:r>
              <a:t>5-min intervals, 5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5D5"/>
                </a:solidFill>
                <a:latin typeface="Calibri"/>
              </a:defRPr>
            </a:pPr>
            <a:r>
              <a:t>279 features:</a:t>
            </a:r>
            <a:br/>
            <a:r>
              <a:t>Rolling stats, EWMA</a:t>
            </a:r>
            <a:br/>
            <a:r>
              <a:t>Derivatives, Lags</a:t>
            </a:r>
            <a:br/>
            <a:r>
              <a:t>Cyclical time 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  <a:latin typeface="Calibri"/>
              </a:defRPr>
            </a:pPr>
            <a:r>
              <a:t>ML Models</a:t>
            </a:r>
            <a:br/>
            <a:r>
              <a:t>(LightGBM)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5D5"/>
                </a:solidFill>
                <a:latin typeface="Calibri"/>
              </a:defRPr>
            </a:pPr>
            <a:r>
              <a:t>Potability classifier</a:t>
            </a:r>
            <a:br/>
            <a:r>
              <a:t>Cause identifier</a:t>
            </a:r>
            <a:br/>
            <a:r>
              <a:t>Per-sensor forecasters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DC4"/>
                </a:solidFill>
                <a:latin typeface="Calibri"/>
              </a:defRPr>
            </a:pPr>
            <a:r>
              <a:t>Risk Index</a:t>
            </a:r>
            <a:br/>
            <a:r>
              <a:t>&amp;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5D5"/>
                </a:solidFill>
                <a:latin typeface="Calibri"/>
              </a:defRPr>
            </a:pPr>
            <a:r>
              <a:t>WQRI 0-100 score</a:t>
            </a:r>
            <a:br/>
            <a:r>
              <a:t>Persistence + Hysteresis</a:t>
            </a:r>
            <a:br/>
            <a:r>
              <a:t>False alarm reduction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26080" y="2560320"/>
            <a:ext cx="365760" cy="274320"/>
          </a:xfrm>
          <a:prstGeom prst="right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669280" y="2560320"/>
            <a:ext cx="365760" cy="274320"/>
          </a:xfrm>
          <a:prstGeom prst="right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412480" y="2560320"/>
            <a:ext cx="365760" cy="274320"/>
          </a:xfrm>
          <a:prstGeom prst="rightArrow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Streamlit Dashboard (5 Tabs)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Risk Overview: gauge + timeline + multi-site comparison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Sensor Trends: per-sensor charts with regulatory limits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Alerts Log: transition history with false alarm tracking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Root Cause: diagnosis panel with confidence + explanations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FastAPI Inference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POST /predict -- single reading prediction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WS /ws/stream -- WebSocket live demo streaming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GET /health -- system health check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Production-ready: async, CORS, schema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Water Quality Risk Index (WQRI)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WQRI = EWMA( SUM(weight_i x deviation_score_i) / SUM(weight_i) )     score: 0-100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Sensor Weights (domain-driven)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Chloramine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926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Disinfectant loss = pathogen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Turbidity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735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Pathogen surrogate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21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6210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21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Carcinogenic byproduct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684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68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Corrosion /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15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Contamination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Organic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DBP precursor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TDS / Sulfate / Hardness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0109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Calibri"/>
              </a:defRPr>
            </a:pPr>
            <a:r>
              <a:t>0.13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010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Secondary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Risk Scale &amp; Alert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6A"/>
                </a:solidFill>
                <a:latin typeface="Calibri"/>
              </a:defRPr>
            </a:pPr>
            <a:r>
              <a:t>0-30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6A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Routine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Calibri"/>
              </a:defRPr>
            </a:pPr>
            <a:r>
              <a:t>30-50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Minor deviations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50-65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Calibri"/>
              </a:defRPr>
            </a:pPr>
            <a:r>
              <a:t>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Increased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65-80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Investigate immediately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54"/>
                </a:solidFill>
                <a:latin typeface="Calibri"/>
              </a:defRPr>
            </a:pPr>
            <a:r>
              <a:t>80-100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005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Emergency response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120640"/>
            <a:ext cx="475488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Calibri"/>
              </a:defRPr>
            </a:pPr>
            <a:r>
              <a:t>False Alarm Reduction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Persistence: 3 consecutive readings (15 min) required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Hysteresis: 5-point buffer before alert clears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Result: ~80% fewer false alarms vs raw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Probable Cause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5"/>
                </a:solidFill>
                <a:latin typeface="Calibri"/>
              </a:defRPr>
            </a:pPr>
            <a:r>
              <a:t>Hybrid approach: ML Classifier + Domain Rule Engine + SHAP Explanations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Cause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Key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Typical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Disinfectant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Chloramine drops, THM 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Hours-days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Contamination/Intrusion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78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Turbidity spike, conductivity jump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78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Minutes-hours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 Corrosion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626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pH drops, hardness rises, conductivity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626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Days-weeks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467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Slow chloramine decay, slight turbidity 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46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Operational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30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Sudden chloramine shift, turbidity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Sensor 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Zero variance detected on sensor readings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5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720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Calibri"/>
              </a:defRPr>
            </a:pPr>
            <a:r>
              <a:t>Rule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6 domain-expert rules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Always runs (no model needed)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Provides human-readable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  explanations for operators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5720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Calibri"/>
              </a:defRPr>
            </a:pPr>
            <a:r>
              <a:t>ML Classifier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LightGBM 7-class model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279 engineered features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Probabilistic output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  ranks all possible causes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5720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Calibri"/>
              </a:defRPr>
            </a:pPr>
            <a:r>
              <a:t>SHAP Explanations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Per-prediction feature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  importance via TreeSHAP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Top-5 contributing factors</a:t>
            </a:r>
          </a:p>
          <a:p>
            <a:pPr>
              <a:spcAft>
                <a:spcPts val="600"/>
              </a:spcAft>
              <a:defRPr sz="1200">
                <a:solidFill>
                  <a:srgbClr val="BBC5D5"/>
                </a:solidFill>
                <a:latin typeface="Calibri"/>
              </a:defRPr>
            </a:pPr>
            <a:r>
              <a:t>  shown on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Results &amp; Event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6A"/>
                </a:solidFill>
                <a:latin typeface="Calibri"/>
              </a:defRPr>
            </a:pPr>
            <a:r>
              <a:t>0.887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5D5"/>
                </a:solidFill>
                <a:latin typeface="Calibri"/>
              </a:defRPr>
            </a:pPr>
            <a:r>
              <a:t>Potability</a:t>
            </a:r>
            <a:br/>
            <a:r>
              <a:t>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0116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6A"/>
                </a:solidFill>
                <a:latin typeface="Calibri"/>
              </a:defRPr>
            </a:pPr>
            <a:r>
              <a:t>0.86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Calibri"/>
              </a:defRPr>
            </a:pPr>
            <a:r>
              <a:t>F1-macro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5D5"/>
                </a:solidFill>
                <a:latin typeface="Calibri"/>
              </a:defRPr>
            </a:pPr>
            <a:r>
              <a:t>Potability</a:t>
            </a:r>
            <a:br/>
            <a:r>
              <a:t>Classifier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0116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6A"/>
                </a:solidFill>
                <a:latin typeface="Calibri"/>
              </a:defRPr>
            </a:pPr>
            <a:r>
              <a:t>0.60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Calibri"/>
              </a:defRPr>
            </a:pPr>
            <a:r>
              <a:t>Macro-F1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5D5"/>
                </a:solidFill>
                <a:latin typeface="Calibri"/>
              </a:defRPr>
            </a:pPr>
            <a:r>
              <a:t>Cause</a:t>
            </a:r>
            <a:br/>
            <a:r>
              <a:t>Classifier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188720"/>
            <a:ext cx="20116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6A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5D5"/>
                </a:solidFill>
                <a:latin typeface="Calibri"/>
              </a:defRPr>
            </a:pPr>
            <a:r>
              <a:t>Chloramine</a:t>
            </a:r>
            <a:br/>
            <a:r>
              <a:t>Forecaster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188720"/>
            <a:ext cx="20116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6A"/>
                </a:solidFill>
                <a:latin typeface="Calibri"/>
              </a:defRPr>
            </a:pPr>
            <a:r>
              <a:t>~15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Calibri"/>
              </a:defRPr>
            </a:pPr>
            <a:r>
              <a:t>Fastest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5D5"/>
                </a:solidFill>
                <a:latin typeface="Calibri"/>
              </a:defRPr>
            </a:pPr>
            <a:r>
              <a:t>Time-to-</a:t>
            </a:r>
            <a:br/>
            <a: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 Validated Event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356616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Scenario 1: Disinfection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5"/>
                </a:solidFill>
                <a:latin typeface="Calibri"/>
              </a:defRPr>
            </a:pPr>
            <a:r>
              <a:t>Chloramine drops 4.0 to 0.5 mg/L over 2hrs.</a:t>
            </a:r>
            <a:br/>
            <a:r>
              <a:t>Detected at T+40min (WARNING), T+60min (CRITICAL).</a:t>
            </a:r>
            <a:br/>
            <a:r>
              <a:t>Cause: 'Disinfectant Decay' -- confidence 85%.</a:t>
            </a:r>
            <a:br/>
            <a:r>
              <a:t>Lead time: ~40 min before non-potable.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566160"/>
            <a:ext cx="356616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Scenario 2: Pipe Break Intrusion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5"/>
                </a:solidFill>
                <a:latin typeface="Calibri"/>
              </a:defRPr>
            </a:pPr>
            <a:r>
              <a:t>Turbidity jumps 2 to 6 NTU, conductivity spikes.</a:t>
            </a:r>
            <a:br/>
            <a:r>
              <a:t>Detected at T+15min (WARNING), T+20min (CRITICAL).</a:t>
            </a:r>
            <a:br/>
            <a:r>
              <a:t>Cause: 'Contamination Intrusion' -- confidence 80%.</a:t>
            </a:r>
            <a:br/>
            <a:r>
              <a:t>Lead time: ~15 min (fast onset).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66160"/>
            <a:ext cx="356616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657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Calibri"/>
              </a:defRPr>
            </a:pPr>
            <a:r>
              <a:t>Scenario 3: Dead-End Stagnation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114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5"/>
                </a:solidFill>
                <a:latin typeface="Calibri"/>
              </a:defRPr>
            </a:pPr>
            <a:r>
              <a:t>Overnight chloramine decay in low-flow pipe.</a:t>
            </a:r>
            <a:br/>
            <a:r>
              <a:t>Detected at T+6h (CAUTION), T+7h (WARNING).</a:t>
            </a:r>
            <a:br/>
            <a:r>
              <a:t>Cause: 'Stagnation' -- confidence 70%.</a:t>
            </a:r>
            <a:br/>
            <a:r>
              <a:t>Lead time: ~2 hrs before violation.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DC4"/>
                </a:solidFill>
                <a:latin typeface="Calibri"/>
              </a:defRPr>
            </a:pPr>
            <a:r>
              <a:t>Impact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6A"/>
                </a:solidFill>
                <a:latin typeface="Calibri"/>
              </a:defRPr>
            </a:pPr>
            <a:r>
              <a:t>Public Health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15-40 min early warning before unsafe water reaches consumers</a:t>
            </a:r>
          </a:p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~80% false alarm reduction vs. simple thresholds</a:t>
            </a:r>
          </a:p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Automated root-cause identification saves hours of investigation</a:t>
            </a:r>
          </a:p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5-site monitoring with 5-min granularity (scalable to 100+ sites)</a:t>
            </a:r>
          </a:p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Interpretable explanations build operator trust</a:t>
            </a:r>
          </a:p>
          <a:p>
            <a:pPr>
              <a:spcAft>
                <a:spcPts val="600"/>
              </a:spcAft>
              <a:defRPr sz="1400">
                <a:solidFill>
                  <a:srgbClr val="BBC5D5"/>
                </a:solidFill>
                <a:latin typeface="Calibri"/>
              </a:defRPr>
            </a:pPr>
            <a:r>
              <a:t>Low-cost: runs on standard hardware, open-source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Python | LightGBM | Scikit-learn | SHAP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FastAPI (inference) | Streamlit (dashboard)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Parquet (storage) | Plotly (visualization)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303520" cy="3108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Calibri"/>
              </a:defRPr>
            </a:pPr>
            <a:r>
              <a:t>Production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1: Real sensor integration (MQTT / OPC-UA / SCADA)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2: Weather &amp; demand data fusion for better forecasting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3: LSTM / Temporal Fusion Transformer for long horizons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4: Graph Neural Network for pipe network topology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5: Edge deployment (ONNX on IoT gateways)</a:t>
            </a:r>
          </a:p>
          <a:p>
            <a:pPr>
              <a:spcAft>
                <a:spcPts val="600"/>
              </a:spcAft>
              <a:defRPr sz="1300">
                <a:solidFill>
                  <a:srgbClr val="BBC5D5"/>
                </a:solidFill>
                <a:latin typeface="Calibri"/>
              </a:defRPr>
            </a:pPr>
            <a:r>
              <a:t>Phase 6: Docker + Kubernetes + Azure IoT Hub at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CDC4"/>
                </a:solidFill>
                <a:latin typeface="Calibri"/>
              </a:defRPr>
            </a:pPr>
            <a:r>
              <a:t>AquaGuard  --  AI Night Challenge 2026  --  Protecting Public Health with Real-Time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